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6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Computer Science</c:v>
                  </c:pt>
                  <c:pt idx="1">
                    <c:v>Psychology</c:v>
                  </c:pt>
                  <c:pt idx="2">
                    <c:v>Mathematics</c:v>
                  </c:pt>
                  <c:pt idx="3">
                    <c:v>Physics</c:v>
                  </c:pt>
                  <c:pt idx="4">
                    <c:v>Economics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92.4</c:v>
                </c:pt>
                <c:pt idx="1">
                  <c:v>79.3</c:v>
                </c:pt>
                <c:pt idx="2">
                  <c:v>79</c:v>
                </c:pt>
                <c:pt idx="3">
                  <c:v>79</c:v>
                </c:pt>
                <c:pt idx="4">
                  <c:v>73.6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26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6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Economics</c:v>
                  </c:pt>
                  <c:pt idx="1">
                    <c:v>Psychology</c:v>
                  </c:pt>
                  <c:pt idx="2">
                    <c:v>Mathematics</c:v>
                  </c:pt>
                  <c:pt idx="3">
                    <c:v>Physics</c:v>
                  </c:pt>
                  <c:pt idx="4">
                    <c:v>Computer Science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</c:v>
                </c:pt>
                <c:pt idx="1">
                  <c:v>17</c:v>
                </c:pt>
                <c:pt idx="2">
                  <c:v>16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26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6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Computer Science</c:v>
                  </c:pt>
                  <c:pt idx="1">
                    <c:v>Economics</c:v>
                  </c:pt>
                  <c:pt idx="2">
                    <c:v>Physics</c:v>
                  </c:pt>
                  <c:pt idx="3">
                    <c:v>Mathematics</c:v>
                  </c:pt>
                  <c:pt idx="4">
                    <c:v>Psychology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26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b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6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85.4</c:v>
                </c:pt>
                <c:pt idx="1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6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62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</c:v>
                  </c:pt>
                  <c:pt idx="1">
                    <c:v>19</c:v>
                  </c:pt>
                  <c:pt idx="2">
                    <c:v>20</c:v>
                  </c:pt>
                  <c:pt idx="3">
                    <c:v>21</c:v>
                  </c:pt>
                  <c:pt idx="4">
                    <c:v>22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</c:v>
                </c:pt>
                <c:pt idx="1">
                  <c:v>81</c:v>
                </c:pt>
                <c:pt idx="2">
                  <c:v>85.3</c:v>
                </c:pt>
                <c:pt idx="3">
                  <c:v>76.7</c:v>
                </c:pt>
                <c:pt idx="4">
                  <c:v>68.3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262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7A57"/>
              </a:solidFill>
              <a:effectLst/>
            </c:spPr>
          </c:dPt>
          <c:dPt>
            <c:idx val="1"/>
            <c:bubble3D val="0"/>
            <c:spPr>
              <a:solidFill>
                <a:srgbClr val="D8DCE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14</c:v>
                </c:pt>
                <c:pt idx="1">
                  <c:v>7</c:v>
                </c:pt>
              </c:numCache>
            </c:numRef>
          </c:val>
        </c:ser>
        <c:firstSliceAng val="0"/>
        <c:holeSize val="60"/>
      </c:doughnutChart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3262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B48"/>
          </a:solidFill>
          <a:ln w="19050">
            <a:solidFill>
              <a:srgbClr val="2A34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-182880"/>
            <a:ext cx="2743200" cy="2743200"/>
          </a:xfrm>
          <a:prstGeom prst="ellipse">
            <a:avLst/>
          </a:prstGeom>
          <a:ln w="19050">
            <a:solidFill>
              <a:srgbClr val="C9A227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PRACTICE EXERCISE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exploratory and analytical study of a 21-student academic performance dataset — data cleaning, feature engineering, and departmental insights using Python &amp; Pandas.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0" cy="105156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6177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Batch 09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IIM Kozhikode
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46177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Amit Chakraborty
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behalf of Group 03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728216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09397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size, and summary statistics of the student performance dataset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30568" y="1728216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30568" y="209397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and duplicate records before analysis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3145536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351129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Result (Pass/Fail) and Grade (A–F) from raw marks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0568" y="3145536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Departmental Performance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0568" y="351129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average marks, spread, and headcount across departments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7008" y="4562856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Patterns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07008" y="492861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age-group differences in performance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4562856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30568" y="4928616"/>
            <a:ext cx="46908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caveats, and a closing summary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one record added during the exercise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8328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7 fields, plus Result and Grade derived later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80.95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100, across the full cleaned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52560" y="21031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52560" y="28803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32461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Physics, Computer Science, Mathematics, Economics, Psychology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captured: Student ID, Name, Age, City, Marks, Gender, Department — plus Result and Grade, engineered during analysis.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Introduced: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missing Marks, 1 missing City
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chosen: Fill, not drop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Marks → filled with class median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City → filled with “Unknown”
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4754880" cy="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434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dropping would discard 2 of 21 full student records (~10% of the dataset) over a single missing field each. Filling preserves every student while keeping the substitution transparent.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5146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duplicate row introduced and detected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Checked as a full-row duplicate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Checked separately by Student ID
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Both checks agreed (exact copy)
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37960" y="4160520"/>
            <a:ext cx="4754880" cy="0"/>
          </a:xfrm>
          <a:prstGeom prst="line">
            <a:avLst/>
          </a:prstGeom>
          <a:noFill/>
          <a:ln w="12700">
            <a:solidFill>
              <a:srgbClr val="D8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43434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via drop_duplicates(), restoring the dataset to its correct count of 21 unique students, keeping the first occurrence of any repeated ID.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Derived Metrics: Result &amp; Grade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E4F3E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≥ 75  →  Pass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4937760" cy="640080"/>
          </a:xfrm>
          <a:prstGeom prst="roundRect">
            <a:avLst>
              <a:gd name="adj" fmla="val 8571"/>
            </a:avLst>
          </a:prstGeom>
          <a:solidFill>
            <a:srgbClr val="F7E7E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718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&lt; 75  →  Fail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179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Bands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7920" y="221284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2128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84848" y="22128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– 100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67004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26700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84848" y="26700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– 89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12724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5B7FC7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1272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84848" y="31272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79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58444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5A5F73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5844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84848" y="35844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69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041648"/>
            <a:ext cx="420624" cy="384048"/>
          </a:xfrm>
          <a:prstGeom prst="roundRect">
            <a:avLst>
              <a:gd name="adj" fmla="val 11905"/>
            </a:avLst>
          </a:prstGeom>
          <a:solidFill>
            <a:srgbClr val="B03A2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404164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40416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60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014984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5262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rules, one nuance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846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and Grade are calculated independently, so a student can fail overall while still landing in a respectable grade band. For example, a student scoring 74 marks is recorded as Fail (below the 75-mark threshold) but still receives a Grade C (which spans 70–79) — a useful reminder that pass/fail and letter grade answer two different questions.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Marks by Department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4434840"/>
          </a:xfrm>
          <a:prstGeom prst="roundRect">
            <a:avLst>
              <a:gd name="adj" fmla="val 1429"/>
            </a:avLst>
          </a:prstGeom>
          <a:solidFill>
            <a:srgbClr val="F4F6FB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0" y="2377440"/>
            <a:ext cx="3291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Computer Science leads by a wide margin (92.4), ~13 points above the next department.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Psychology, Mathematics, and Physics cluster closely around 79.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Economics trails at 73.6, the only department below the overall average of 80.95.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&amp; Headcount by Department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range (max − min)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per department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17920" y="210312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&amp; Age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by gender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2103120"/>
          <a:ext cx="55778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48640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likely reflects department mix (CS: 4F/1M; Economics: 1F/4M) rather than gender alone — see Key Insights.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783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marks by age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17920" y="21031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217920" y="5486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18-year-olds lead at 87.0, with a general downward trend by age — though each group has only 2–5 students.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Pass Rate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783080"/>
          <a:ext cx="4754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32461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7A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126480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0" y="2057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of 21 students passed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threshold: Marks ≥ 75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 students (33.3%) fell below the threshold, concentrated more heavily in Economics and Physics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Roughly half of all students (10 of 21) scored above their own department's average — pass/fail and “above average” are related but distinct measures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dominates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(92.4), tightest spread (5 points), and home to the single top scorer (95 marks) — consistently strong, not a one-off outlier.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49440" y="198424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is likely confounded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 average 10.4 points higher, but Computer Science (the top department) is mostly female while Economics (the weakest) is mostly male — department mix, not gender alone, likely drives the gap.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needs attention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average (73.6) and the widest spread (22 points) — a mix of strong and weak performers, suggesting uneven preparation rather than a uniformly weak cohort.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402336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251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22452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samples limit some claims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Age-group and city-level patterns are based on as few as 1–5 students each — directional, not statistically robust.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|  FinTech Batch 09, IIM Kozhikode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85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is the strongest and most consistent department, both on average performance and its individual top scorer, while Economics is the weakest on average and the most varied.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0632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students averaged higher marks overall, but this appears linked to department composition — Computer Science skews female, Economics skews male — rather than gender itself.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42976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 three students passed overall (66.7%), roughly half scored above their own department's average, and 18-year-olds led all age groups — though age-based patterns rest on small sample sizes.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5989320"/>
            <a:ext cx="10698480" cy="0"/>
          </a:xfrm>
          <a:prstGeom prst="line">
            <a:avLst/>
          </a:prstGeom>
          <a:noFill/>
          <a:ln w="12700">
            <a:solidFill>
              <a:srgbClr val="3A44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Analysis  —  FinTech Batch 09, IIM Kozhikode  —  Prepared by Amit Chakraborty, Group 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2026-09-11T03:45:55Z</dcterms:created>
  <dcterms:modified xsi:type="dcterms:W3CDTF">2026-09-11T03:45:55Z</dcterms:modified>
</cp:coreProperties>
</file>